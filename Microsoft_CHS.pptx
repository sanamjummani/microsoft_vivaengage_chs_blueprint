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8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188720"/>
            <a:ext cx="3474720" cy="3474720"/>
          </a:xfrm>
          <a:prstGeom prst="ellipse">
            <a:avLst/>
          </a:prstGeom>
          <a:solidFill>
            <a:srgbClr val="1E45A0">
              <a:alpha val="20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365760"/>
            <a:ext cx="2011680" cy="2011680"/>
          </a:xfrm>
          <a:prstGeom prst="ellipse">
            <a:avLst/>
          </a:prstGeom>
          <a:solidFill>
            <a:srgbClr val="3B6DD4">
              <a:alpha val="15000"/>
            </a:srgbClr>
          </a:solidFill>
          <a:ln w="12700">
            <a:solidFill>
              <a:srgbClr val="3B6D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PURDUE BAIM × MICROSOFT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Score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Microsoft Viva Engage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3200400" cy="3657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584448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analytics framework to measure, score, and improve enterprise community health — built on real public data from GitHub &amp; StackExchange.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462272"/>
            <a:ext cx="1920240" cy="566928"/>
          </a:xfrm>
          <a:prstGeom prst="rect">
            <a:avLst/>
          </a:prstGeom>
          <a:solidFill>
            <a:srgbClr val="1E45A0">
              <a:alpha val="4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449884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15768" y="4462272"/>
            <a:ext cx="1920240" cy="566928"/>
          </a:xfrm>
          <a:prstGeom prst="rect">
            <a:avLst/>
          </a:prstGeom>
          <a:solidFill>
            <a:srgbClr val="1E45A0">
              <a:alpha val="4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61488" y="446227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84448" y="449884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37176" y="4462272"/>
            <a:ext cx="1920240" cy="566928"/>
          </a:xfrm>
          <a:prstGeom prst="rect">
            <a:avLst/>
          </a:prstGeom>
          <a:solidFill>
            <a:srgbClr val="1E45A0">
              <a:alpha val="4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2896" y="446227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05856" y="449884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Sub-Metrics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58584" y="4462272"/>
            <a:ext cx="1920240" cy="566928"/>
          </a:xfrm>
          <a:prstGeom prst="rect">
            <a:avLst/>
          </a:prstGeom>
          <a:solidFill>
            <a:srgbClr val="1E45A0">
              <a:alpha val="4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04304" y="446227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827264" y="449884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Microsoft needed this — and why it's hard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120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73152" cy="352044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Microsoft Needed to Close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Engage hosts thousands of internal communities — but leadership had </a:t>
            </a:r>
            <a:r>
              <a:rPr lang="en-US" sz="1300" b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which ones were thriving vs. quietly dying.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counts alone are misleading. A community can log thousands of posts and still be broken — if nobody replies, if one person dominates, or if the tone is toxic.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Community Health Score that gives HR, leadership, and community managers an early-warning system and a clear picture of where to intervene.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42432" y="1078992"/>
            <a:ext cx="3127248" cy="1042416"/>
          </a:xfrm>
          <a:prstGeom prst="rect">
            <a:avLst/>
          </a:prstGeom>
          <a:solidFill>
            <a:srgbClr val="FBD8D8"/>
          </a:solidFill>
          <a:ln w="12700">
            <a:solidFill>
              <a:srgbClr val="E8A0A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2801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54496" y="1170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Decline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70448" y="153619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fade slowly — no dashboard flags it until it's too late to save them.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42432" y="2267712"/>
            <a:ext cx="3127248" cy="1042416"/>
          </a:xfrm>
          <a:prstGeom prst="rect">
            <a:avLst/>
          </a:prstGeom>
          <a:solidFill>
            <a:srgbClr val="EDF2F8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4688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54496" y="2359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Metrics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870448" y="27249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"Post count" rewards noise. A channel of 1,000 rants can look healthier than one with 50 expert answers.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742432" y="3456432"/>
            <a:ext cx="3127248" cy="1042416"/>
          </a:xfrm>
          <a:prstGeom prst="rect">
            <a:avLst/>
          </a:prstGeom>
          <a:solidFill>
            <a:srgbClr val="EDF2F8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65760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3547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Intervention Logic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870448" y="391363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managers sense something is wrong, there's no framework telling them what action to take.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blank prompt to working system — in one semester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11680" cy="3566160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1188720"/>
            <a:ext cx="658368" cy="658368"/>
          </a:xfrm>
          <a:prstGeom prst="ellipse">
            <a:avLst/>
          </a:prstGeom>
          <a:solidFill>
            <a:srgbClr val="1E45A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2996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6334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14+ academic papers &amp; industry reports on online community health. Every metric grounded in research.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0" y="2670048"/>
            <a:ext cx="182880" cy="3657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68880" y="1078992"/>
            <a:ext cx="2011680" cy="3566160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27248" y="1188720"/>
            <a:ext cx="658368" cy="658368"/>
          </a:xfrm>
          <a:prstGeom prst="ellipse">
            <a:avLst/>
          </a:prstGeom>
          <a:solidFill>
            <a:srgbClr val="1E45A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27248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029968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26334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60320" y="32004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5 health themes and 19 sub-metrics from scratch. Each formula built and calibrated for different community types.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480560" y="2670048"/>
            <a:ext cx="182880" cy="3657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63440" y="1078992"/>
            <a:ext cx="2011680" cy="3566160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321808" y="1188720"/>
            <a:ext cx="658368" cy="658368"/>
          </a:xfrm>
          <a:prstGeom prst="ellipse">
            <a:avLst/>
          </a:prstGeom>
          <a:solidFill>
            <a:srgbClr val="1E45A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321808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029968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54880" y="26334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32004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real data via GitHub GraphQL API and StackExchange SEDE. 22+ communities. Adapted around API budget constraints.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675120" y="2670048"/>
            <a:ext cx="182880" cy="3657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858000" y="1078992"/>
            <a:ext cx="2011680" cy="3566160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516368" y="1188720"/>
            <a:ext cx="658368" cy="658368"/>
          </a:xfrm>
          <a:prstGeom prst="ellipse">
            <a:avLst/>
          </a:prstGeom>
          <a:solidFill>
            <a:srgbClr val="1E45A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516368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029968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49440" y="26334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Nudges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949440" y="32004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HTML dashboard surfacing CHS scores, sub-metric drill-downs, and 41 actionable intervention nudges.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74320" y="4709160"/>
            <a:ext cx="8595360" cy="329184"/>
          </a:xfrm>
          <a:prstGeom prst="rect">
            <a:avLst/>
          </a:prstGeom>
          <a:solidFill>
            <a:srgbClr val="1E45A0">
              <a:alpha val="5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Constraint note: GPT-4 sentiment analysis &amp; BERTopic modeling were scoped out due to API cost — framework was designed to support them when budget allows.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health themes · 19 sub-metrics · weights adjust by community type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3B6DD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  =  (w₁ × Engagement)  +  (w₂ × Responsiveness)  +  (w₃ × Content Quality)  +  (w₄ × Vitality)  −  Risk Penalty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691640"/>
            <a:ext cx="160020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691640"/>
            <a:ext cx="1600200" cy="566928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9184" y="2331720"/>
            <a:ext cx="1444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Activity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" y="3108960"/>
            <a:ext cx="1417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 Rate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Replies-to-Post Ratio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Contributors/Thread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9184" y="47731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4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vary by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4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type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993392" y="1691640"/>
            <a:ext cx="160020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993392" y="1691640"/>
            <a:ext cx="1600200" cy="566928"/>
          </a:xfrm>
          <a:prstGeom prst="rect">
            <a:avLst/>
          </a:prstGeom>
          <a:solidFill>
            <a:srgbClr val="3D4F65"/>
          </a:solidFill>
          <a:ln w="12700">
            <a:solidFill>
              <a:srgbClr val="3D4F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7830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66544" y="2331720"/>
            <a:ext cx="1444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Dialogue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084832" y="3108960"/>
            <a:ext cx="1417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First Reply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Coverage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Continuity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Reciprocity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066544" y="47731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vary by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D4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type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730752" y="1691640"/>
            <a:ext cx="160020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730752" y="1691640"/>
            <a:ext cx="1600200" cy="566928"/>
          </a:xfrm>
          <a:prstGeom prst="rect">
            <a:avLst/>
          </a:prstGeom>
          <a:solidFill>
            <a:srgbClr val="256045"/>
          </a:solidFill>
          <a:ln w="12700">
            <a:solidFill>
              <a:srgbClr val="256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7830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03904" y="2331720"/>
            <a:ext cx="1444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Sentiment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822192" y="3108960"/>
            <a:ext cx="1417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Balance Score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Thread Ratio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Reply Richness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3803904" y="47731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vary by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5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type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5468112" y="1691640"/>
            <a:ext cx="160020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68112" y="1691640"/>
            <a:ext cx="1600200" cy="566928"/>
          </a:xfrm>
          <a:prstGeom prst="rect">
            <a:avLst/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78308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41264" y="2331720"/>
            <a:ext cx="1444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59552" y="3108960"/>
            <a:ext cx="1417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Contributor Rate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Ratio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Novelty Index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Lurker Conversion Rate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5541264" y="47731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vary by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type</a:t>
            </a:r>
            <a:endParaRPr lang="en-US" sz="700" dirty="0"/>
          </a:p>
        </p:txBody>
      </p:sp>
      <p:sp>
        <p:nvSpPr>
          <p:cNvPr id="31" name="Shape 25"/>
          <p:cNvSpPr/>
          <p:nvPr/>
        </p:nvSpPr>
        <p:spPr>
          <a:xfrm>
            <a:off x="7205472" y="1691640"/>
            <a:ext cx="160020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205472" y="1691640"/>
            <a:ext cx="1600200" cy="566928"/>
          </a:xfrm>
          <a:prstGeom prst="rect">
            <a:avLst/>
          </a:prstGeom>
          <a:solidFill>
            <a:srgbClr val="D83030"/>
          </a:solidFill>
          <a:ln w="12700">
            <a:solidFill>
              <a:srgbClr val="D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178308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78624" y="2331720"/>
            <a:ext cx="1444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7296912" y="3108960"/>
            <a:ext cx="1417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Post Rate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Super-User Dependency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Sentiment Rate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Decline Trend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7278624" y="477316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vary by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D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type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communities, real data — not simulated or synthetic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69080" cy="3931920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69080" cy="45720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Discussions  (GraphQL API)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618488"/>
            <a:ext cx="3794760" cy="27432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vercel/next.js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29384"/>
            <a:ext cx="3794760" cy="27432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95681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ohmyzsh/ohmyzsh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240280"/>
            <a:ext cx="3794760" cy="27432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vuejs/core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551176"/>
            <a:ext cx="3794760" cy="27432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786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sveltejs/svelte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862072"/>
            <a:ext cx="3794760" cy="27432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88950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denoland/deno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172968"/>
            <a:ext cx="3794760" cy="27432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dotnet/runtime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483864"/>
            <a:ext cx="3794760" cy="27432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51129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moby/moby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794760"/>
            <a:ext cx="3794760" cy="27432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82219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expressjs/express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105656"/>
            <a:ext cx="3794760" cy="27432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41330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lodash/lodash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645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communities · Popular / Mid / Dead tiers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051560"/>
            <a:ext cx="4069080" cy="3931920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0600" y="1051560"/>
            <a:ext cx="4069080" cy="45720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10972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  (SEDE)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0328" y="1618488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01768" y="164592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10328" y="1860804"/>
            <a:ext cx="3794760" cy="22860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01768" y="188823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10328" y="2103120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01768" y="21305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10328" y="2345436"/>
            <a:ext cx="3794760" cy="22860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01768" y="237286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10328" y="2587752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01768" y="261518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10328" y="2830068"/>
            <a:ext cx="3794760" cy="22860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01768" y="285750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10328" y="3072384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01768" y="30998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0328" y="3314700"/>
            <a:ext cx="3794760" cy="22860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01768" y="33421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10328" y="3557016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01768" y="35844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10328" y="3799332"/>
            <a:ext cx="3794760" cy="22860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01768" y="382676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10328" y="4041648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01768" y="40690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Yammer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10328" y="4283964"/>
            <a:ext cx="3794760" cy="228600"/>
          </a:xfrm>
          <a:prstGeom prst="rect">
            <a:avLst/>
          </a:prstGeom>
          <a:solidFill>
            <a:srgbClr val="0D206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01768" y="431139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10328" y="4526280"/>
            <a:ext cx="3794760" cy="228600"/>
          </a:xfrm>
          <a:prstGeom prst="rect">
            <a:avLst/>
          </a:prstGeom>
          <a:solidFill>
            <a:srgbClr val="1E45A0">
              <a:alpha val="45000"/>
            </a:srgbClr>
          </a:solidFill>
          <a:ln w="12700">
            <a:solidFill>
              <a:srgbClr val="1E45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01768" y="455371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10328" y="4717021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communities · Popular / Mid / Niche · Yammer included as baseline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revealed across 22 communities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276148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2761488" cy="502920"/>
          </a:xfrm>
          <a:prstGeom prst="rect">
            <a:avLst/>
          </a:prstGeom>
          <a:solidFill>
            <a:srgbClr val="D83030"/>
          </a:solidFill>
          <a:ln w="12700">
            <a:solidFill>
              <a:srgbClr val="D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Posts Are the #1 Killer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176272"/>
            <a:ext cx="2542032" cy="804672"/>
          </a:xfrm>
          <a:prstGeom prst="rect">
            <a:avLst/>
          </a:prstGeom>
          <a:solidFill>
            <a:srgbClr val="FBD8D8"/>
          </a:solidFill>
          <a:ln w="12700">
            <a:solidFill>
              <a:srgbClr val="FB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12–88%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47088" y="2240280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post rate range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communities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3035808"/>
            <a:ext cx="254203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predictor of community health was ghost post rate — posts with zero replies after 72hrs. vercel/next.js had 88% ignored. sveltejs/svelte, one of the healthiest, had only 12%. This confirmed ghost posts as the primary intervention target.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60704"/>
            <a:ext cx="276148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060704"/>
            <a:ext cx="2761488" cy="502920"/>
          </a:xfrm>
          <a:prstGeom prst="rect">
            <a:avLst/>
          </a:prstGeom>
          <a:solidFill>
            <a:srgbClr val="C86A00"/>
          </a:solidFill>
          <a:ln w="12700">
            <a:solidFill>
              <a:srgbClr val="C8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9272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164592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≠ Health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2176272"/>
            <a:ext cx="2542032" cy="804672"/>
          </a:xfrm>
          <a:prstGeom prst="rect">
            <a:avLst/>
          </a:prstGeom>
          <a:solidFill>
            <a:srgbClr val="FDE8B8"/>
          </a:solidFill>
          <a:ln w="12700">
            <a:solidFill>
              <a:srgbClr val="FDE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92424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by 1 person 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moby/moby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3035808"/>
            <a:ext cx="254203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moby/moby appeared engaged on raw post counts — but one user contributed 52% of all content and reply rates were just 24%. High super-user dependency with low breadth: a community one resignation away from collapse.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1060704"/>
            <a:ext cx="276148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1060704"/>
            <a:ext cx="2761488" cy="502920"/>
          </a:xfrm>
          <a:prstGeom prst="rect">
            <a:avLst/>
          </a:prstGeom>
          <a:solidFill>
            <a:srgbClr val="256045"/>
          </a:solidFill>
          <a:ln w="12700">
            <a:solidFill>
              <a:srgbClr val="256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72784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91072" y="164592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Type Changes the Score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1072" y="2176272"/>
            <a:ext cx="2542032" cy="804672"/>
          </a:xfrm>
          <a:prstGeom prst="rect">
            <a:avLst/>
          </a:prstGeom>
          <a:solidFill>
            <a:srgbClr val="C8ECD8"/>
          </a:solidFill>
          <a:ln w="12700">
            <a:solidFill>
              <a:srgbClr val="C8E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45936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754112" y="2240280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different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weights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91072" y="3035808"/>
            <a:ext cx="254203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tech repos and StackExchange niche communities score very differently on the same raw metrics. A universal formula mis-classifies both. Context-adjusted weights — as our framework provides — are essential for honest health signals.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community-selectable — built in pure HTML / CSS / JS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577840" cy="4005072"/>
          </a:xfrm>
          <a:prstGeom prst="rect">
            <a:avLst/>
          </a:prstGeom>
          <a:solidFill>
            <a:srgbClr val="0D1A38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577840" cy="347472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4241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Viva Engage — Community Health Blueprint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1207008" cy="3657600"/>
          </a:xfrm>
          <a:prstGeom prst="rect">
            <a:avLst/>
          </a:prstGeom>
          <a:solidFill>
            <a:srgbClr val="0A1428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" y="1426464"/>
            <a:ext cx="1170432" cy="320040"/>
          </a:xfrm>
          <a:prstGeom prst="rect">
            <a:avLst/>
          </a:prstGeom>
          <a:solidFill>
            <a:srgbClr val="0D1A38"/>
          </a:solidFill>
          <a:ln w="12700">
            <a:solidFill>
              <a:srgbClr val="0D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463040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1810512"/>
            <a:ext cx="1170432" cy="32004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84708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194560"/>
            <a:ext cx="1170432" cy="320040"/>
          </a:xfrm>
          <a:prstGeom prst="rect">
            <a:avLst/>
          </a:prstGeom>
          <a:solidFill>
            <a:srgbClr val="0D1A38"/>
          </a:solidFill>
          <a:ln w="12700">
            <a:solidFill>
              <a:srgbClr val="0D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23113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2578608"/>
            <a:ext cx="1170432" cy="320040"/>
          </a:xfrm>
          <a:prstGeom prst="rect">
            <a:avLst/>
          </a:prstGeom>
          <a:solidFill>
            <a:srgbClr val="0D1A38"/>
          </a:solidFill>
          <a:ln w="12700">
            <a:solidFill>
              <a:srgbClr val="0D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261518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2962656"/>
            <a:ext cx="1170432" cy="320040"/>
          </a:xfrm>
          <a:prstGeom prst="rect">
            <a:avLst/>
          </a:prstGeom>
          <a:solidFill>
            <a:srgbClr val="0D1A38"/>
          </a:solidFill>
          <a:ln w="12700">
            <a:solidFill>
              <a:srgbClr val="0D1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99923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82496" y="1417320"/>
            <a:ext cx="1005840" cy="1005840"/>
          </a:xfrm>
          <a:prstGeom prst="ellipse">
            <a:avLst/>
          </a:prstGeom>
          <a:solidFill>
            <a:srgbClr val="1E45A0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82496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82496" y="24414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80360" y="14813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80360" y="1709928"/>
            <a:ext cx="2697480" cy="128016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80360" y="1709928"/>
            <a:ext cx="1834286" cy="128016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80360" y="19385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80360" y="2167128"/>
            <a:ext cx="2697480" cy="128016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880360" y="2167128"/>
            <a:ext cx="2211934" cy="128016"/>
          </a:xfrm>
          <a:prstGeom prst="rect">
            <a:avLst/>
          </a:prstGeom>
          <a:solidFill>
            <a:srgbClr val="3D4F65"/>
          </a:solidFill>
          <a:ln w="12700">
            <a:solidFill>
              <a:srgbClr val="3D4F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80360" y="23957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880360" y="2624328"/>
            <a:ext cx="2697480" cy="128016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80360" y="2624328"/>
            <a:ext cx="1483614" cy="128016"/>
          </a:xfrm>
          <a:prstGeom prst="rect">
            <a:avLst/>
          </a:prstGeom>
          <a:solidFill>
            <a:srgbClr val="256045"/>
          </a:solidFill>
          <a:ln w="12700">
            <a:solidFill>
              <a:srgbClr val="256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80360" y="28529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80360" y="3081528"/>
            <a:ext cx="2697480" cy="128016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880360" y="3081528"/>
            <a:ext cx="1888236" cy="128016"/>
          </a:xfrm>
          <a:prstGeom prst="rect">
            <a:avLst/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80360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Penalty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80360" y="3538728"/>
            <a:ext cx="2697480" cy="128016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80360" y="3538728"/>
            <a:ext cx="809244" cy="128016"/>
          </a:xfrm>
          <a:prstGeom prst="rect">
            <a:avLst/>
          </a:prstGeom>
          <a:solidFill>
            <a:srgbClr val="D83030"/>
          </a:solidFill>
          <a:ln w="12700">
            <a:solidFill>
              <a:srgbClr val="D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536192" y="3767328"/>
            <a:ext cx="4114800" cy="749808"/>
          </a:xfrm>
          <a:prstGeom prst="rect">
            <a:avLst/>
          </a:prstGeom>
          <a:solidFill>
            <a:srgbClr val="1A0505"/>
          </a:solidFill>
          <a:ln w="12700">
            <a:solidFill>
              <a:srgbClr val="D8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27632" y="38221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CRITICAL: Ghost Post Rate 43%  →  Set a team norm: No post goes unanswered for &gt;48 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[Take Action]  [Snooze 7 days]  [Dismiss]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0760" y="1005840"/>
            <a:ext cx="2788920" cy="1207008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61872"/>
            <a:ext cx="365760" cy="36576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656832" y="11338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View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199632" y="157276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 score + 5 theme bars. Radar chart. Drill into any theme for full sub-metric breakdown.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080760" y="2368296"/>
            <a:ext cx="2788920" cy="1207008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624328"/>
            <a:ext cx="365760" cy="36576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656832" y="24963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Smart Nudges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199632" y="2935224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Priority-ranked, role-targeted actions triggered by live metric values. Critical → Warning → Optimize.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080760" y="3730752"/>
            <a:ext cx="2788920" cy="1207008"/>
          </a:xfrm>
          <a:prstGeom prst="rect">
            <a:avLst/>
          </a:prstGeom>
          <a:solidFill>
            <a:srgbClr val="1E45A0">
              <a:alpha val="30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986784"/>
            <a:ext cx="365760" cy="36576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6656832" y="38587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View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6199632" y="4297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CHS scoring across all 22 communities, filterable by platform and community tier.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Microsoft gets from deploying this on Viva Engage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4160520" cy="73152"/>
          </a:xfrm>
          <a:prstGeom prst="rect">
            <a:avLst/>
          </a:prstGeom>
          <a:solidFill>
            <a:srgbClr val="C86A00"/>
          </a:solidFill>
          <a:ln w="12700">
            <a:solidFill>
              <a:srgbClr val="C8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261872"/>
            <a:ext cx="530352" cy="530352"/>
          </a:xfrm>
          <a:prstGeom prst="ellipse">
            <a:avLst/>
          </a:prstGeom>
          <a:solidFill>
            <a:srgbClr val="FDE8B8"/>
          </a:solidFill>
          <a:ln w="12700">
            <a:solidFill>
              <a:srgbClr val="FDE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435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86537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communities are flagged via Activity Decline Trend regression before collapse becomes irreversible. Leadership intervenes at Week 4, not Month 6.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60704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060704"/>
            <a:ext cx="4160520" cy="73152"/>
          </a:xfrm>
          <a:prstGeom prst="rect">
            <a:avLst/>
          </a:prstGeom>
          <a:solidFill>
            <a:srgbClr val="256045"/>
          </a:solidFill>
          <a:ln w="12700">
            <a:solidFill>
              <a:srgbClr val="256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19472" y="1261872"/>
            <a:ext cx="530352" cy="530352"/>
          </a:xfrm>
          <a:prstGeom prst="ellipse">
            <a:avLst/>
          </a:prstGeom>
          <a:solidFill>
            <a:srgbClr val="C8ECD8"/>
          </a:solidFill>
          <a:ln w="12700">
            <a:solidFill>
              <a:srgbClr val="C8E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2435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Intervention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19472" y="186537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nudges sorted by severity and role turn a number into a concrete action. Not 'your score is 48' — but 'here is exactly what to do today.'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94436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74320" y="2944368"/>
            <a:ext cx="4160520" cy="73152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38912" y="3145536"/>
            <a:ext cx="530352" cy="53035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0954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3127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Context-Aware Scoring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38912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community and a 2-year-old one are scored by different standards. Tech vs. support communities receive different weights — health measured against purpose, not just activity.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294436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2944368"/>
            <a:ext cx="4160520" cy="73152"/>
          </a:xfrm>
          <a:prstGeom prst="rect">
            <a:avLst/>
          </a:prstGeom>
          <a:solidFill>
            <a:srgbClr val="3D4F65"/>
          </a:solidFill>
          <a:ln w="12700">
            <a:solidFill>
              <a:srgbClr val="3D4F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919472" y="3145536"/>
            <a:ext cx="530352" cy="530352"/>
          </a:xfrm>
          <a:prstGeom prst="ellipse">
            <a:avLst/>
          </a:prstGeom>
          <a:solidFill>
            <a:srgbClr val="EDF2F8"/>
          </a:solidFill>
          <a:ln w="12700">
            <a:solidFill>
              <a:srgbClr val="EDF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0954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77840" y="3127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Framework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919472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GitHub and StackExchange. The same 5-theme architecture applies to any threaded community — internal or external — at enterprise scale.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74320" y="4690872"/>
            <a:ext cx="85953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38912" y="4727448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 is defined relative to purpose. A tech community that sounds frustrated but resolves 80% of issues is healthier than one that sounds pleasant but leaves 60% of questions unanswered."  — CHS Framework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033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38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owned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645920" cy="3657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276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6276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14+ papers into metric justification framework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6791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679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Framework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30632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themes, 19 sub-metrics, formulas &amp; community-type weights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73075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22960" y="41148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HTML dashboard built from scratch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977640" y="43891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977640" y="987552"/>
            <a:ext cx="4937760" cy="676656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977640" y="987552"/>
            <a:ext cx="64008" cy="67665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160520" y="106070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Translation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160520" y="1371600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 ambiguous business problem into a measurable, literature-backed scoring system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977640" y="1737360"/>
            <a:ext cx="4937760" cy="676656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977640" y="1737360"/>
            <a:ext cx="64008" cy="67665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160520" y="181051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Analytical Thinking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160520" y="2121408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5-theme, 19-metric framework with explicit formulas, weights, and decision thresholds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977640" y="2487168"/>
            <a:ext cx="4937760" cy="676656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977640" y="2487168"/>
            <a:ext cx="64008" cy="67665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160520" y="25603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Adaptation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160520" y="287121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responsibly within budget/data constraints without losing analytical or business rigor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977640" y="3236976"/>
            <a:ext cx="4937760" cy="676656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3977640" y="3236976"/>
            <a:ext cx="64008" cy="67665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160520" y="331012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160520" y="362102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dashboard that makes complex metric math legible to a non-technical community manager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977640" y="3986784"/>
            <a:ext cx="4937760" cy="676656"/>
          </a:xfrm>
          <a:prstGeom prst="rect">
            <a:avLst/>
          </a:prstGeom>
          <a:solidFill>
            <a:srgbClr val="1E45A0">
              <a:alpha val="25000"/>
            </a:srgbClr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3977640" y="3986784"/>
            <a:ext cx="64008" cy="676656"/>
          </a:xfrm>
          <a:prstGeom prst="rect">
            <a:avLst/>
          </a:prstGeom>
          <a:solidFill>
            <a:srgbClr val="3B6DD4"/>
          </a:solidFill>
          <a:ln w="12700">
            <a:solidFill>
              <a:srgbClr val="3B6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160520" y="405993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160520" y="437083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prompt → lit review → framework → data pipeline → dashboard → nudge engine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977640" y="4736592"/>
            <a:ext cx="4937760" cy="320040"/>
          </a:xfrm>
          <a:prstGeom prst="rect">
            <a:avLst/>
          </a:prstGeom>
          <a:solidFill>
            <a:srgbClr val="1E45A0"/>
          </a:solidFill>
          <a:ln w="12700">
            <a:solidFill>
              <a:srgbClr val="1E4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4096512" y="4773168"/>
            <a:ext cx="4709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 demo + GitHub repo + full metrics framework available on request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8138160" y="4754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1237</Words>
  <Application>Microsoft Macintosh PowerPoint</Application>
  <PresentationFormat>On-screen Show (16:9)</PresentationFormat>
  <Paragraphs>215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Viva Engage — Community Health Score</dc:title>
  <dc:subject>PptxGenJS Presentation</dc:subject>
  <dc:creator>Portfolio</dc:creator>
  <cp:lastModifiedBy>Sana Majeed</cp:lastModifiedBy>
  <cp:revision>2</cp:revision>
  <dcterms:created xsi:type="dcterms:W3CDTF">2026-03-31T02:10:10Z</dcterms:created>
  <dcterms:modified xsi:type="dcterms:W3CDTF">2026-03-31T02:20:40Z</dcterms:modified>
</cp:coreProperties>
</file>